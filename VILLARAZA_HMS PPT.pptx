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65" r:id="rId4"/>
    <p:sldId id="257" r:id="rId5"/>
    <p:sldId id="259" r:id="rId6"/>
    <p:sldId id="260"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autoAdjust="0"/>
    <p:restoredTop sz="94660"/>
  </p:normalViewPr>
  <p:slideViewPr>
    <p:cSldViewPr snapToGrid="0">
      <p:cViewPr varScale="1">
        <p:scale>
          <a:sx n="95" d="100"/>
          <a:sy n="95" d="100"/>
        </p:scale>
        <p:origin x="3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8C27F-180C-4074-AC35-06CB1F7B06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50C41D-5B69-4616-859F-D7A9665D00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859122-7BF7-4407-AE3D-6B88E5F462F6}"/>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5" name="Footer Placeholder 4">
            <a:extLst>
              <a:ext uri="{FF2B5EF4-FFF2-40B4-BE49-F238E27FC236}">
                <a16:creationId xmlns:a16="http://schemas.microsoft.com/office/drawing/2014/main" id="{9224C1E7-1C23-42B4-8A88-2413137A51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652A94-D888-4B27-9D30-584EFD9AA918}"/>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1051082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CB2BB-4872-467D-8009-9C11102A96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6A1195-0E2D-49E2-8A8A-9CCA28C15A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10F60E-E901-4C7C-91D6-425E6E9F750D}"/>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5" name="Footer Placeholder 4">
            <a:extLst>
              <a:ext uri="{FF2B5EF4-FFF2-40B4-BE49-F238E27FC236}">
                <a16:creationId xmlns:a16="http://schemas.microsoft.com/office/drawing/2014/main" id="{519FD824-38EF-4F58-BCE3-97A17E7020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B383DC-8F86-47E2-8CCA-5344E9BD6E8F}"/>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380712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85AFC-14B3-4F52-8AD2-21507B3C64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EE63DC-2A1A-4386-BB36-4BB522E01B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578E38-5B03-42A1-893D-2AAA730A07C4}"/>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5" name="Footer Placeholder 4">
            <a:extLst>
              <a:ext uri="{FF2B5EF4-FFF2-40B4-BE49-F238E27FC236}">
                <a16:creationId xmlns:a16="http://schemas.microsoft.com/office/drawing/2014/main" id="{8CD723B3-C4A5-4B3D-B9C4-42BE2CA36F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1FD223-A4A4-41A4-938B-54B6E209B573}"/>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3914673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4CE05-D203-4036-8CA2-24093B8C49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75179D-2C97-4CDC-A1DF-7C4996A96C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6E0A07-B1C2-47DF-B5A8-D8083D8B99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A37E4B-D35F-4402-BD4A-F24F3F2BEEC0}"/>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6" name="Footer Placeholder 5">
            <a:extLst>
              <a:ext uri="{FF2B5EF4-FFF2-40B4-BE49-F238E27FC236}">
                <a16:creationId xmlns:a16="http://schemas.microsoft.com/office/drawing/2014/main" id="{6874B3C9-7005-4228-8DF3-9734CD9512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547EAC-6F11-45F8-81C5-84F76EE41C8B}"/>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332171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D25CF-4DD9-4E53-A430-6DA5711D5D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8B796D-9250-4743-BBA0-0CB3C16B9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A5E349-F179-4176-A899-5364069FC7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6050F7-3148-454A-A34B-3E73C3C07C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24486F-C645-4347-9085-4A3E95A8D6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6F1E3C-B21B-42DF-9589-964526AE78BE}"/>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8" name="Footer Placeholder 7">
            <a:extLst>
              <a:ext uri="{FF2B5EF4-FFF2-40B4-BE49-F238E27FC236}">
                <a16:creationId xmlns:a16="http://schemas.microsoft.com/office/drawing/2014/main" id="{B3FB312F-87D8-4E68-92FE-9581D745A6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92804D-F1FA-46E5-82E4-FFCE4599C62F}"/>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749470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B0306-992D-49FE-8E22-C33C34D399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A17F84-85E4-46E9-A22D-772B6278113F}"/>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4" name="Footer Placeholder 3">
            <a:extLst>
              <a:ext uri="{FF2B5EF4-FFF2-40B4-BE49-F238E27FC236}">
                <a16:creationId xmlns:a16="http://schemas.microsoft.com/office/drawing/2014/main" id="{53CCBD48-04E6-4AAF-8306-31E0C00BA1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13AC5C-EFF5-4AFD-B194-E423F41BE934}"/>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2894724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C11273-BF12-46B5-A164-8077ED70769B}"/>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3" name="Footer Placeholder 2">
            <a:extLst>
              <a:ext uri="{FF2B5EF4-FFF2-40B4-BE49-F238E27FC236}">
                <a16:creationId xmlns:a16="http://schemas.microsoft.com/office/drawing/2014/main" id="{414548A9-D428-4CC4-A47B-6032C4E32C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6BB26B-242C-4180-8AC1-69D2043C9F19}"/>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1154164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F7BFE-65D2-4E3C-B757-6183F98D9E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928115-0ED2-4347-A686-3680A596F6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86B0B3-DF06-48C6-80AC-D4536CF3A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3B05C1-FC34-4302-B28E-054B16332F2B}"/>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6" name="Footer Placeholder 5">
            <a:extLst>
              <a:ext uri="{FF2B5EF4-FFF2-40B4-BE49-F238E27FC236}">
                <a16:creationId xmlns:a16="http://schemas.microsoft.com/office/drawing/2014/main" id="{C0285656-B7A4-480C-840D-D947FC0727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243B81-2AC7-45C0-9D70-DA7A8C828E92}"/>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255248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4F026-CADB-4869-9D97-E1D5BB287D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C5A143-85FB-407E-A316-D6F0C353E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A41F50-0292-4902-A394-3E13CD02CF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C4E6AA-2296-44BB-A7F7-22A64CCA9546}"/>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6" name="Footer Placeholder 5">
            <a:extLst>
              <a:ext uri="{FF2B5EF4-FFF2-40B4-BE49-F238E27FC236}">
                <a16:creationId xmlns:a16="http://schemas.microsoft.com/office/drawing/2014/main" id="{9CA4EE00-63D7-411F-9CD8-922B48F668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127C1C-473E-40AF-B7A0-91AB43E7EC3B}"/>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915376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D821-F883-4FD9-B395-A7185B37F5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BCB47F-9D54-407B-AFF3-9C8323B176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948158-3919-45FC-9A1F-B158D2861F70}"/>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5" name="Footer Placeholder 4">
            <a:extLst>
              <a:ext uri="{FF2B5EF4-FFF2-40B4-BE49-F238E27FC236}">
                <a16:creationId xmlns:a16="http://schemas.microsoft.com/office/drawing/2014/main" id="{F70D3030-B95A-4C83-916B-8F3F364B5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E3E941-1884-4A25-8AE7-7CD335292D80}"/>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732486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6721E7-C3CB-4928-83FB-5907CC58EA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CDAF96-E36D-4FE1-8BF2-055CF7FCFA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1F91BF-3344-42BE-AF75-C6D9149890CB}"/>
              </a:ext>
            </a:extLst>
          </p:cNvPr>
          <p:cNvSpPr>
            <a:spLocks noGrp="1"/>
          </p:cNvSpPr>
          <p:nvPr>
            <p:ph type="dt" sz="half" idx="10"/>
          </p:nvPr>
        </p:nvSpPr>
        <p:spPr/>
        <p:txBody>
          <a:bodyPr/>
          <a:lstStyle/>
          <a:p>
            <a:fld id="{EA149222-E2C5-46BC-A4A3-3A1E618C43D4}" type="datetimeFigureOut">
              <a:rPr lang="en-US" smtClean="0"/>
              <a:t>3/8/2026</a:t>
            </a:fld>
            <a:endParaRPr lang="en-US"/>
          </a:p>
        </p:txBody>
      </p:sp>
      <p:sp>
        <p:nvSpPr>
          <p:cNvPr id="5" name="Footer Placeholder 4">
            <a:extLst>
              <a:ext uri="{FF2B5EF4-FFF2-40B4-BE49-F238E27FC236}">
                <a16:creationId xmlns:a16="http://schemas.microsoft.com/office/drawing/2014/main" id="{1C63066F-BF97-42B0-A867-1A0FD4B90D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332048-E0B9-48C2-AB04-BF284B2ED651}"/>
              </a:ext>
            </a:extLst>
          </p:cNvPr>
          <p:cNvSpPr>
            <a:spLocks noGrp="1"/>
          </p:cNvSpPr>
          <p:nvPr>
            <p:ph type="sldNum" sz="quarter" idx="12"/>
          </p:nvPr>
        </p:nvSpPr>
        <p:spPr/>
        <p:txBody>
          <a:bodyPr/>
          <a:lstStyle/>
          <a:p>
            <a:fld id="{56A47D7E-3836-4A43-8F5F-0A4785B25569}" type="slidenum">
              <a:rPr lang="en-US" smtClean="0"/>
              <a:t>‹#›</a:t>
            </a:fld>
            <a:endParaRPr lang="en-US"/>
          </a:p>
        </p:txBody>
      </p:sp>
    </p:spTree>
    <p:extLst>
      <p:ext uri="{BB962C8B-B14F-4D97-AF65-F5344CB8AC3E}">
        <p14:creationId xmlns:p14="http://schemas.microsoft.com/office/powerpoint/2010/main" val="3371143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516DC4-45E8-442B-9010-B801888FD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DD698-B951-4829-BDFE-76B34A9D5D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F9F94-2007-4883-9E2E-E9DC6FD592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149222-E2C5-46BC-A4A3-3A1E618C43D4}" type="datetimeFigureOut">
              <a:rPr lang="en-US" smtClean="0"/>
              <a:t>3/8/2026</a:t>
            </a:fld>
            <a:endParaRPr lang="en-US"/>
          </a:p>
        </p:txBody>
      </p:sp>
      <p:sp>
        <p:nvSpPr>
          <p:cNvPr id="5" name="Footer Placeholder 4">
            <a:extLst>
              <a:ext uri="{FF2B5EF4-FFF2-40B4-BE49-F238E27FC236}">
                <a16:creationId xmlns:a16="http://schemas.microsoft.com/office/drawing/2014/main" id="{67368D59-895A-4C61-B5EE-6C0B7A324A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E2BF66-3E96-4095-9D5B-1D11DFBAA1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A47D7E-3836-4A43-8F5F-0A4785B25569}" type="slidenum">
              <a:rPr lang="en-US" smtClean="0"/>
              <a:t>‹#›</a:t>
            </a:fld>
            <a:endParaRPr lang="en-US"/>
          </a:p>
        </p:txBody>
      </p:sp>
    </p:spTree>
    <p:extLst>
      <p:ext uri="{BB962C8B-B14F-4D97-AF65-F5344CB8AC3E}">
        <p14:creationId xmlns:p14="http://schemas.microsoft.com/office/powerpoint/2010/main" val="2131543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95A6C9-C28F-447C-893B-0714E33B67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095588" cy="6858000"/>
          </a:xfrm>
          <a:prstGeom prst="rect">
            <a:avLst/>
          </a:prstGeom>
        </p:spPr>
      </p:pic>
      <p:sp>
        <p:nvSpPr>
          <p:cNvPr id="6" name="TextBox 5">
            <a:extLst>
              <a:ext uri="{FF2B5EF4-FFF2-40B4-BE49-F238E27FC236}">
                <a16:creationId xmlns:a16="http://schemas.microsoft.com/office/drawing/2014/main" id="{5E9A8C01-0592-4123-8515-5FA88154344A}"/>
              </a:ext>
            </a:extLst>
          </p:cNvPr>
          <p:cNvSpPr txBox="1"/>
          <p:nvPr/>
        </p:nvSpPr>
        <p:spPr>
          <a:xfrm>
            <a:off x="521200" y="874207"/>
            <a:ext cx="6723661" cy="1077218"/>
          </a:xfrm>
          <a:prstGeom prst="rect">
            <a:avLst/>
          </a:prstGeom>
          <a:noFill/>
        </p:spPr>
        <p:txBody>
          <a:bodyPr wrap="square" rtlCol="0">
            <a:spAutoFit/>
          </a:bodyPr>
          <a:lstStyle/>
          <a:p>
            <a:r>
              <a:rPr lang="en-US" sz="3200" b="1" dirty="0">
                <a:latin typeface="Arial" panose="020B0604020202020204" pitchFamily="34" charset="0"/>
                <a:cs typeface="Arial" panose="020B0604020202020204" pitchFamily="34" charset="0"/>
              </a:rPr>
              <a:t>“Hotel Management System  —</a:t>
            </a:r>
          </a:p>
          <a:p>
            <a:r>
              <a:rPr lang="en-US" sz="3200" b="1" dirty="0">
                <a:latin typeface="Arial" panose="020B0604020202020204" pitchFamily="34" charset="0"/>
                <a:cs typeface="Arial" panose="020B0604020202020204" pitchFamily="34" charset="0"/>
              </a:rPr>
              <a:t> System Presentation”</a:t>
            </a:r>
          </a:p>
        </p:txBody>
      </p:sp>
      <p:sp>
        <p:nvSpPr>
          <p:cNvPr id="7" name="TextBox 6">
            <a:extLst>
              <a:ext uri="{FF2B5EF4-FFF2-40B4-BE49-F238E27FC236}">
                <a16:creationId xmlns:a16="http://schemas.microsoft.com/office/drawing/2014/main" id="{55B62AE8-8742-4C00-B0E1-286012FA964C}"/>
              </a:ext>
            </a:extLst>
          </p:cNvPr>
          <p:cNvSpPr txBox="1"/>
          <p:nvPr/>
        </p:nvSpPr>
        <p:spPr>
          <a:xfrm>
            <a:off x="662532" y="5056832"/>
            <a:ext cx="5797899" cy="830997"/>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NAME: Leif Anthony Villaraza             </a:t>
            </a:r>
          </a:p>
          <a:p>
            <a:r>
              <a:rPr lang="en-US" sz="2400" b="1" dirty="0">
                <a:latin typeface="Arial" panose="020B0604020202020204" pitchFamily="34" charset="0"/>
                <a:cs typeface="Arial" panose="020B0604020202020204" pitchFamily="34" charset="0"/>
              </a:rPr>
              <a:t>SECTION&amp;YR: BSIT- 2D</a:t>
            </a:r>
          </a:p>
        </p:txBody>
      </p:sp>
      <p:pic>
        <p:nvPicPr>
          <p:cNvPr id="8" name="Picture 7">
            <a:extLst>
              <a:ext uri="{FF2B5EF4-FFF2-40B4-BE49-F238E27FC236}">
                <a16:creationId xmlns:a16="http://schemas.microsoft.com/office/drawing/2014/main" id="{E29FE028-374F-4267-ACFD-711E01EF982E}"/>
              </a:ext>
            </a:extLst>
          </p:cNvPr>
          <p:cNvPicPr>
            <a:picLocks noChangeAspect="1"/>
          </p:cNvPicPr>
          <p:nvPr/>
        </p:nvPicPr>
        <p:blipFill>
          <a:blip r:embed="rId3"/>
          <a:stretch>
            <a:fillRect/>
          </a:stretch>
        </p:blipFill>
        <p:spPr>
          <a:xfrm>
            <a:off x="2090057" y="2644994"/>
            <a:ext cx="2180492" cy="1718268"/>
          </a:xfrm>
          <a:prstGeom prst="rect">
            <a:avLst/>
          </a:prstGeom>
        </p:spPr>
      </p:pic>
    </p:spTree>
    <p:extLst>
      <p:ext uri="{BB962C8B-B14F-4D97-AF65-F5344CB8AC3E}">
        <p14:creationId xmlns:p14="http://schemas.microsoft.com/office/powerpoint/2010/main" val="205573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0C61103-3FC8-460D-A099-A9B2D29CA274}"/>
              </a:ext>
            </a:extLst>
          </p:cNvPr>
          <p:cNvPicPr>
            <a:picLocks noChangeAspect="1"/>
          </p:cNvPicPr>
          <p:nvPr/>
        </p:nvPicPr>
        <p:blipFill>
          <a:blip r:embed="rId2"/>
          <a:stretch>
            <a:fillRect/>
          </a:stretch>
        </p:blipFill>
        <p:spPr>
          <a:xfrm>
            <a:off x="1523603" y="2596824"/>
            <a:ext cx="9144793" cy="1664352"/>
          </a:xfrm>
          <a:prstGeom prst="rect">
            <a:avLst/>
          </a:prstGeom>
        </p:spPr>
      </p:pic>
      <p:pic>
        <p:nvPicPr>
          <p:cNvPr id="10" name="Picture 9">
            <a:extLst>
              <a:ext uri="{FF2B5EF4-FFF2-40B4-BE49-F238E27FC236}">
                <a16:creationId xmlns:a16="http://schemas.microsoft.com/office/drawing/2014/main" id="{B4181688-D895-4E72-B0BE-E3885C4A1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759"/>
            <a:ext cx="12174531" cy="6902759"/>
          </a:xfrm>
          <a:prstGeom prst="rect">
            <a:avLst/>
          </a:prstGeom>
        </p:spPr>
      </p:pic>
      <p:sp>
        <p:nvSpPr>
          <p:cNvPr id="11" name="Title 1">
            <a:extLst>
              <a:ext uri="{FF2B5EF4-FFF2-40B4-BE49-F238E27FC236}">
                <a16:creationId xmlns:a16="http://schemas.microsoft.com/office/drawing/2014/main" id="{1A14A2E6-D399-4AF2-B030-BB5D2B7C9774}"/>
              </a:ext>
            </a:extLst>
          </p:cNvPr>
          <p:cNvSpPr>
            <a:spLocks noGrp="1"/>
          </p:cNvSpPr>
          <p:nvPr>
            <p:ph type="ctrTitle"/>
          </p:nvPr>
        </p:nvSpPr>
        <p:spPr>
          <a:xfrm>
            <a:off x="233482" y="1177401"/>
            <a:ext cx="5912502" cy="837006"/>
          </a:xfrm>
        </p:spPr>
        <p:txBody>
          <a:bodyPr>
            <a:normAutofit fontScale="90000"/>
          </a:bodyPr>
          <a:lstStyle/>
          <a:p>
            <a:r>
              <a:rPr lang="en-US" b="1" dirty="0">
                <a:latin typeface="Arial" panose="020B0604020202020204" pitchFamily="34" charset="0"/>
                <a:cs typeface="Arial" panose="020B0604020202020204" pitchFamily="34" charset="0"/>
              </a:rPr>
              <a:t>INTRODUCTION &amp; RATIONALE</a:t>
            </a:r>
          </a:p>
        </p:txBody>
      </p:sp>
      <p:sp>
        <p:nvSpPr>
          <p:cNvPr id="12" name="TextBox 11">
            <a:extLst>
              <a:ext uri="{FF2B5EF4-FFF2-40B4-BE49-F238E27FC236}">
                <a16:creationId xmlns:a16="http://schemas.microsoft.com/office/drawing/2014/main" id="{10BAFA71-D493-42DB-9CE0-27B50E2AA0B5}"/>
              </a:ext>
            </a:extLst>
          </p:cNvPr>
          <p:cNvSpPr txBox="1"/>
          <p:nvPr/>
        </p:nvSpPr>
        <p:spPr>
          <a:xfrm>
            <a:off x="534931" y="2466389"/>
            <a:ext cx="6307995" cy="3046988"/>
          </a:xfrm>
          <a:prstGeom prst="rect">
            <a:avLst/>
          </a:prstGeom>
          <a:noFill/>
        </p:spPr>
        <p:txBody>
          <a:bodyPr wrap="square" rtlCol="0">
            <a:spAutoFit/>
          </a:bodyPr>
          <a:lstStyle/>
          <a:p>
            <a:r>
              <a:rPr lang="en-US" sz="2400" dirty="0"/>
              <a:t>The </a:t>
            </a:r>
            <a:r>
              <a:rPr lang="en-US" sz="2400" b="1" dirty="0"/>
              <a:t>Hotel Management System</a:t>
            </a:r>
            <a:r>
              <a:rPr lang="en-US" sz="2400" dirty="0"/>
              <a:t> is designed to simplify and automate hotel operations such as room management and customer check-in. The system helps staff manage guest information, room availability, and records efficiently. This project aims to improve accuracy, reduce manual work, and enhance the overall management process of hotel services.</a:t>
            </a:r>
          </a:p>
        </p:txBody>
      </p:sp>
    </p:spTree>
    <p:extLst>
      <p:ext uri="{BB962C8B-B14F-4D97-AF65-F5344CB8AC3E}">
        <p14:creationId xmlns:p14="http://schemas.microsoft.com/office/powerpoint/2010/main" val="3229625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0C61103-3FC8-460D-A099-A9B2D29CA274}"/>
              </a:ext>
            </a:extLst>
          </p:cNvPr>
          <p:cNvPicPr>
            <a:picLocks noChangeAspect="1"/>
          </p:cNvPicPr>
          <p:nvPr/>
        </p:nvPicPr>
        <p:blipFill>
          <a:blip r:embed="rId2"/>
          <a:stretch>
            <a:fillRect/>
          </a:stretch>
        </p:blipFill>
        <p:spPr>
          <a:xfrm>
            <a:off x="1523603" y="2596824"/>
            <a:ext cx="9144793" cy="1664352"/>
          </a:xfrm>
          <a:prstGeom prst="rect">
            <a:avLst/>
          </a:prstGeom>
        </p:spPr>
      </p:pic>
      <p:pic>
        <p:nvPicPr>
          <p:cNvPr id="10" name="Picture 9">
            <a:extLst>
              <a:ext uri="{FF2B5EF4-FFF2-40B4-BE49-F238E27FC236}">
                <a16:creationId xmlns:a16="http://schemas.microsoft.com/office/drawing/2014/main" id="{B4181688-D895-4E72-B0BE-E3885C4A1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380"/>
            <a:ext cx="12174531" cy="6902759"/>
          </a:xfrm>
          <a:prstGeom prst="rect">
            <a:avLst/>
          </a:prstGeom>
        </p:spPr>
      </p:pic>
      <p:sp>
        <p:nvSpPr>
          <p:cNvPr id="11" name="Title 1">
            <a:extLst>
              <a:ext uri="{FF2B5EF4-FFF2-40B4-BE49-F238E27FC236}">
                <a16:creationId xmlns:a16="http://schemas.microsoft.com/office/drawing/2014/main" id="{1A14A2E6-D399-4AF2-B030-BB5D2B7C9774}"/>
              </a:ext>
            </a:extLst>
          </p:cNvPr>
          <p:cNvSpPr>
            <a:spLocks noGrp="1"/>
          </p:cNvSpPr>
          <p:nvPr>
            <p:ph type="ctrTitle"/>
          </p:nvPr>
        </p:nvSpPr>
        <p:spPr>
          <a:xfrm>
            <a:off x="0" y="1080019"/>
            <a:ext cx="6491235" cy="864122"/>
          </a:xfrm>
        </p:spPr>
        <p:txBody>
          <a:bodyPr>
            <a:normAutofit fontScale="90000"/>
          </a:bodyPr>
          <a:lstStyle/>
          <a:p>
            <a:r>
              <a:rPr lang="en-US" b="1" dirty="0">
                <a:latin typeface="Arial" panose="020B0604020202020204" pitchFamily="34" charset="0"/>
                <a:cs typeface="Arial" panose="020B0604020202020204" pitchFamily="34" charset="0"/>
              </a:rPr>
              <a:t>PURPOSE &amp; BENEFICIARIES</a:t>
            </a:r>
          </a:p>
        </p:txBody>
      </p:sp>
      <p:sp>
        <p:nvSpPr>
          <p:cNvPr id="12" name="TextBox 11">
            <a:extLst>
              <a:ext uri="{FF2B5EF4-FFF2-40B4-BE49-F238E27FC236}">
                <a16:creationId xmlns:a16="http://schemas.microsoft.com/office/drawing/2014/main" id="{10BAFA71-D493-42DB-9CE0-27B50E2AA0B5}"/>
              </a:ext>
            </a:extLst>
          </p:cNvPr>
          <p:cNvSpPr txBox="1"/>
          <p:nvPr/>
        </p:nvSpPr>
        <p:spPr>
          <a:xfrm>
            <a:off x="592852" y="2258241"/>
            <a:ext cx="6300317" cy="3785652"/>
          </a:xfrm>
          <a:prstGeom prst="rect">
            <a:avLst/>
          </a:prstGeom>
          <a:noFill/>
        </p:spPr>
        <p:txBody>
          <a:bodyPr wrap="square" rtlCol="0">
            <a:spAutoFit/>
          </a:bodyPr>
          <a:lstStyle/>
          <a:p>
            <a:r>
              <a:rPr lang="en-US" sz="2400" dirty="0"/>
              <a:t>The purpose of this system is to provide an organized and efficient way to manage hotel operations digitally. It helps store and retrieve guest and room information quickly.</a:t>
            </a:r>
          </a:p>
          <a:p>
            <a:endParaRPr lang="en-US" sz="2400" dirty="0"/>
          </a:p>
          <a:p>
            <a:r>
              <a:rPr lang="en-US" sz="2400" b="1" dirty="0"/>
              <a:t>Beneficiaries:</a:t>
            </a:r>
            <a:endParaRPr lang="en-US" sz="2400" dirty="0"/>
          </a:p>
          <a:p>
            <a:pPr marL="342900" indent="-342900">
              <a:buFont typeface="Arial" panose="020B0604020202020204" pitchFamily="34" charset="0"/>
              <a:buChar char="•"/>
            </a:pPr>
            <a:r>
              <a:rPr lang="en-US" sz="2400" dirty="0"/>
              <a:t>Hotel administrators</a:t>
            </a:r>
          </a:p>
          <a:p>
            <a:pPr marL="342900" indent="-342900">
              <a:buFont typeface="Arial" panose="020B0604020202020204" pitchFamily="34" charset="0"/>
              <a:buChar char="•"/>
            </a:pPr>
            <a:r>
              <a:rPr lang="en-US" sz="2400" dirty="0"/>
              <a:t>Hotel staff</a:t>
            </a:r>
          </a:p>
          <a:p>
            <a:pPr marL="342900" indent="-342900">
              <a:buFont typeface="Arial" panose="020B0604020202020204" pitchFamily="34" charset="0"/>
              <a:buChar char="•"/>
            </a:pPr>
            <a:r>
              <a:rPr lang="en-US" sz="2400" dirty="0"/>
              <a:t>Hotel management</a:t>
            </a:r>
          </a:p>
          <a:p>
            <a:pPr marL="342900" indent="-342900">
              <a:buFont typeface="Arial" panose="020B0604020202020204" pitchFamily="34" charset="0"/>
              <a:buChar char="•"/>
            </a:pPr>
            <a:r>
              <a:rPr lang="en-US" sz="2400" dirty="0"/>
              <a:t>Customers/guests</a:t>
            </a:r>
          </a:p>
        </p:txBody>
      </p:sp>
    </p:spTree>
    <p:extLst>
      <p:ext uri="{BB962C8B-B14F-4D97-AF65-F5344CB8AC3E}">
        <p14:creationId xmlns:p14="http://schemas.microsoft.com/office/powerpoint/2010/main" val="184034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DBB9F-431F-4289-8568-AB16F3BEA0B6}"/>
              </a:ext>
            </a:extLst>
          </p:cNvPr>
          <p:cNvSpPr>
            <a:spLocks noGrp="1"/>
          </p:cNvSpPr>
          <p:nvPr>
            <p:ph type="title"/>
          </p:nvPr>
        </p:nvSpPr>
        <p:spPr>
          <a:xfrm>
            <a:off x="838200" y="254593"/>
            <a:ext cx="10515600" cy="589469"/>
          </a:xfrm>
        </p:spPr>
        <p:txBody>
          <a:bodyPr>
            <a:normAutofit fontScale="90000"/>
          </a:bodyPr>
          <a:lstStyle/>
          <a:p>
            <a:endParaRPr lang="en-US" dirty="0"/>
          </a:p>
        </p:txBody>
      </p:sp>
      <p:pic>
        <p:nvPicPr>
          <p:cNvPr id="6" name="Picture 5">
            <a:extLst>
              <a:ext uri="{FF2B5EF4-FFF2-40B4-BE49-F238E27FC236}">
                <a16:creationId xmlns:a16="http://schemas.microsoft.com/office/drawing/2014/main" id="{B3E01E57-F724-470C-86ED-7D487440C6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09" y="0"/>
            <a:ext cx="12095588" cy="6858000"/>
          </a:xfrm>
          <a:prstGeom prst="rect">
            <a:avLst/>
          </a:prstGeom>
        </p:spPr>
      </p:pic>
      <p:sp>
        <p:nvSpPr>
          <p:cNvPr id="11" name="TextBox 10">
            <a:extLst>
              <a:ext uri="{FF2B5EF4-FFF2-40B4-BE49-F238E27FC236}">
                <a16:creationId xmlns:a16="http://schemas.microsoft.com/office/drawing/2014/main" id="{9669FE57-8B94-478D-81C2-59C939134625}"/>
              </a:ext>
            </a:extLst>
          </p:cNvPr>
          <p:cNvSpPr txBox="1"/>
          <p:nvPr/>
        </p:nvSpPr>
        <p:spPr>
          <a:xfrm>
            <a:off x="363877" y="254593"/>
            <a:ext cx="5918479" cy="1938992"/>
          </a:xfrm>
          <a:prstGeom prst="rect">
            <a:avLst/>
          </a:prstGeom>
          <a:noFill/>
        </p:spPr>
        <p:txBody>
          <a:bodyPr wrap="square" rtlCol="0">
            <a:spAutoFit/>
          </a:bodyPr>
          <a:lstStyle/>
          <a:p>
            <a:r>
              <a:rPr lang="en-US" sz="6000" b="1" dirty="0">
                <a:latin typeface="Arial" panose="020B0604020202020204" pitchFamily="34" charset="0"/>
                <a:cs typeface="Arial" panose="020B0604020202020204" pitchFamily="34" charset="0"/>
              </a:rPr>
              <a:t>Stakeholders / System Users</a:t>
            </a:r>
          </a:p>
        </p:txBody>
      </p:sp>
      <p:sp>
        <p:nvSpPr>
          <p:cNvPr id="13" name="TextBox 12">
            <a:extLst>
              <a:ext uri="{FF2B5EF4-FFF2-40B4-BE49-F238E27FC236}">
                <a16:creationId xmlns:a16="http://schemas.microsoft.com/office/drawing/2014/main" id="{A0F36736-EA6A-4BD5-BD71-5B1D940EC06F}"/>
              </a:ext>
            </a:extLst>
          </p:cNvPr>
          <p:cNvSpPr txBox="1"/>
          <p:nvPr/>
        </p:nvSpPr>
        <p:spPr>
          <a:xfrm>
            <a:off x="572756" y="2944167"/>
            <a:ext cx="3697793" cy="369332"/>
          </a:xfrm>
          <a:prstGeom prst="rect">
            <a:avLst/>
          </a:prstGeom>
          <a:noFill/>
        </p:spPr>
        <p:txBody>
          <a:bodyPr wrap="square" rtlCol="0">
            <a:spAutoFit/>
          </a:bodyPr>
          <a:lstStyle/>
          <a:p>
            <a:endParaRPr lang="en-US" dirty="0"/>
          </a:p>
        </p:txBody>
      </p:sp>
      <p:sp>
        <p:nvSpPr>
          <p:cNvPr id="15" name="TextBox 14">
            <a:extLst>
              <a:ext uri="{FF2B5EF4-FFF2-40B4-BE49-F238E27FC236}">
                <a16:creationId xmlns:a16="http://schemas.microsoft.com/office/drawing/2014/main" id="{443A3F15-83AB-44C5-967B-10A4330AED33}"/>
              </a:ext>
            </a:extLst>
          </p:cNvPr>
          <p:cNvSpPr txBox="1"/>
          <p:nvPr/>
        </p:nvSpPr>
        <p:spPr>
          <a:xfrm>
            <a:off x="3607358" y="4133668"/>
            <a:ext cx="1135464" cy="369332"/>
          </a:xfrm>
          <a:prstGeom prst="rect">
            <a:avLst/>
          </a:prstGeom>
          <a:noFill/>
        </p:spPr>
        <p:txBody>
          <a:bodyPr wrap="square" rtlCol="0">
            <a:spAutoFit/>
          </a:bodyPr>
          <a:lstStyle/>
          <a:p>
            <a:endParaRPr lang="en-US" dirty="0"/>
          </a:p>
        </p:txBody>
      </p:sp>
      <p:sp>
        <p:nvSpPr>
          <p:cNvPr id="22" name="TextBox 21">
            <a:extLst>
              <a:ext uri="{FF2B5EF4-FFF2-40B4-BE49-F238E27FC236}">
                <a16:creationId xmlns:a16="http://schemas.microsoft.com/office/drawing/2014/main" id="{49985D01-73AE-452A-93CA-46660BC30341}"/>
              </a:ext>
            </a:extLst>
          </p:cNvPr>
          <p:cNvSpPr txBox="1"/>
          <p:nvPr/>
        </p:nvSpPr>
        <p:spPr>
          <a:xfrm>
            <a:off x="363877" y="2794840"/>
            <a:ext cx="6486961" cy="2677656"/>
          </a:xfrm>
          <a:prstGeom prst="rect">
            <a:avLst/>
          </a:prstGeom>
          <a:noFill/>
        </p:spPr>
        <p:txBody>
          <a:bodyPr wrap="square" rtlCol="0">
            <a:spAutoFit/>
          </a:bodyPr>
          <a:lstStyle/>
          <a:p>
            <a:r>
              <a:rPr lang="en-US" sz="2400" b="1" dirty="0"/>
              <a:t>Users:</a:t>
            </a:r>
            <a:endParaRPr lang="en-US" sz="2400" dirty="0"/>
          </a:p>
          <a:p>
            <a:pPr marL="342900" indent="-342900">
              <a:buFont typeface="Arial" panose="020B0604020202020204" pitchFamily="34" charset="0"/>
              <a:buChar char="•"/>
            </a:pPr>
            <a:r>
              <a:rPr lang="en-US" sz="2400" b="1" dirty="0"/>
              <a:t>Admin</a:t>
            </a:r>
            <a:r>
              <a:rPr lang="en-US" sz="2400" dirty="0"/>
              <a:t> – manages rooms, customer check-ins, and system data.</a:t>
            </a:r>
          </a:p>
          <a:p>
            <a:r>
              <a:rPr lang="en-US" sz="2400" b="1" dirty="0"/>
              <a:t>Stakeholders:</a:t>
            </a:r>
            <a:endParaRPr lang="en-US" sz="2400" dirty="0"/>
          </a:p>
          <a:p>
            <a:pPr marL="342900" indent="-342900">
              <a:buFont typeface="Arial" panose="020B0604020202020204" pitchFamily="34" charset="0"/>
              <a:buChar char="•"/>
            </a:pPr>
            <a:r>
              <a:rPr lang="en-US" sz="2400" dirty="0"/>
              <a:t>Hotel owner/management</a:t>
            </a:r>
          </a:p>
          <a:p>
            <a:pPr marL="342900" indent="-342900">
              <a:buFont typeface="Arial" panose="020B0604020202020204" pitchFamily="34" charset="0"/>
              <a:buChar char="•"/>
            </a:pPr>
            <a:r>
              <a:rPr lang="en-US" sz="2400" dirty="0"/>
              <a:t>Hotel staff</a:t>
            </a:r>
          </a:p>
          <a:p>
            <a:pPr marL="342900" indent="-342900">
              <a:buFont typeface="Arial" panose="020B0604020202020204" pitchFamily="34" charset="0"/>
              <a:buChar char="•"/>
            </a:pPr>
            <a:r>
              <a:rPr lang="en-US" sz="2400" dirty="0"/>
              <a:t>Customers/guests who use hotel services</a:t>
            </a:r>
          </a:p>
        </p:txBody>
      </p:sp>
    </p:spTree>
    <p:extLst>
      <p:ext uri="{BB962C8B-B14F-4D97-AF65-F5344CB8AC3E}">
        <p14:creationId xmlns:p14="http://schemas.microsoft.com/office/powerpoint/2010/main" val="3894959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DBB9F-431F-4289-8568-AB16F3BEA0B6}"/>
              </a:ext>
            </a:extLst>
          </p:cNvPr>
          <p:cNvSpPr>
            <a:spLocks noGrp="1"/>
          </p:cNvSpPr>
          <p:nvPr>
            <p:ph type="title"/>
          </p:nvPr>
        </p:nvSpPr>
        <p:spPr>
          <a:xfrm>
            <a:off x="838200" y="254593"/>
            <a:ext cx="10515600" cy="589469"/>
          </a:xfrm>
        </p:spPr>
        <p:txBody>
          <a:bodyPr>
            <a:normAutofit fontScale="90000"/>
          </a:bodyPr>
          <a:lstStyle/>
          <a:p>
            <a:endParaRPr lang="en-US" dirty="0"/>
          </a:p>
        </p:txBody>
      </p:sp>
      <p:pic>
        <p:nvPicPr>
          <p:cNvPr id="6" name="Picture 5">
            <a:extLst>
              <a:ext uri="{FF2B5EF4-FFF2-40B4-BE49-F238E27FC236}">
                <a16:creationId xmlns:a16="http://schemas.microsoft.com/office/drawing/2014/main" id="{B3E01E57-F724-470C-86ED-7D487440C6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94" y="-113740"/>
            <a:ext cx="12296194" cy="6971740"/>
          </a:xfrm>
          <a:prstGeom prst="rect">
            <a:avLst/>
          </a:prstGeom>
        </p:spPr>
      </p:pic>
      <p:sp>
        <p:nvSpPr>
          <p:cNvPr id="11" name="TextBox 10">
            <a:extLst>
              <a:ext uri="{FF2B5EF4-FFF2-40B4-BE49-F238E27FC236}">
                <a16:creationId xmlns:a16="http://schemas.microsoft.com/office/drawing/2014/main" id="{9669FE57-8B94-478D-81C2-59C939134625}"/>
              </a:ext>
            </a:extLst>
          </p:cNvPr>
          <p:cNvSpPr txBox="1"/>
          <p:nvPr/>
        </p:nvSpPr>
        <p:spPr>
          <a:xfrm>
            <a:off x="-35530" y="53618"/>
            <a:ext cx="9599525" cy="707886"/>
          </a:xfrm>
          <a:prstGeom prst="rect">
            <a:avLst/>
          </a:prstGeom>
          <a:noFill/>
        </p:spPr>
        <p:txBody>
          <a:bodyPr wrap="square" rtlCol="0">
            <a:spAutoFit/>
          </a:bodyPr>
          <a:lstStyle/>
          <a:p>
            <a:r>
              <a:rPr lang="en-US" sz="4000" b="1" dirty="0">
                <a:latin typeface="Arial" panose="020B0604020202020204" pitchFamily="34" charset="0"/>
                <a:cs typeface="Arial" panose="020B0604020202020204" pitchFamily="34" charset="0"/>
              </a:rPr>
              <a:t>ERD (Entity Relationship Diagram)</a:t>
            </a:r>
          </a:p>
        </p:txBody>
      </p:sp>
      <p:sp>
        <p:nvSpPr>
          <p:cNvPr id="15" name="TextBox 14">
            <a:extLst>
              <a:ext uri="{FF2B5EF4-FFF2-40B4-BE49-F238E27FC236}">
                <a16:creationId xmlns:a16="http://schemas.microsoft.com/office/drawing/2014/main" id="{443A3F15-83AB-44C5-967B-10A4330AED33}"/>
              </a:ext>
            </a:extLst>
          </p:cNvPr>
          <p:cNvSpPr txBox="1"/>
          <p:nvPr/>
        </p:nvSpPr>
        <p:spPr>
          <a:xfrm>
            <a:off x="3607358" y="4133668"/>
            <a:ext cx="1135464" cy="369332"/>
          </a:xfrm>
          <a:prstGeom prst="rect">
            <a:avLst/>
          </a:prstGeom>
          <a:noFill/>
        </p:spPr>
        <p:txBody>
          <a:bodyPr wrap="square" rtlCol="0">
            <a:spAutoFit/>
          </a:bodyPr>
          <a:lstStyle/>
          <a:p>
            <a:endParaRPr lang="en-US" dirty="0"/>
          </a:p>
        </p:txBody>
      </p:sp>
      <p:sp>
        <p:nvSpPr>
          <p:cNvPr id="22" name="TextBox 21">
            <a:extLst>
              <a:ext uri="{FF2B5EF4-FFF2-40B4-BE49-F238E27FC236}">
                <a16:creationId xmlns:a16="http://schemas.microsoft.com/office/drawing/2014/main" id="{49985D01-73AE-452A-93CA-46660BC30341}"/>
              </a:ext>
            </a:extLst>
          </p:cNvPr>
          <p:cNvSpPr txBox="1"/>
          <p:nvPr/>
        </p:nvSpPr>
        <p:spPr>
          <a:xfrm>
            <a:off x="278004" y="2115696"/>
            <a:ext cx="6486961" cy="369332"/>
          </a:xfrm>
          <a:prstGeom prst="rect">
            <a:avLst/>
          </a:prstGeom>
          <a:noFill/>
        </p:spPr>
        <p:txBody>
          <a:bodyPr wrap="square" rtlCol="0">
            <a:spAutoFit/>
          </a:bodyPr>
          <a:lstStyle/>
          <a:p>
            <a:endParaRPr lang="en-US" dirty="0"/>
          </a:p>
        </p:txBody>
      </p:sp>
      <p:sp>
        <p:nvSpPr>
          <p:cNvPr id="4" name="AutoShape 4" descr="Generated image">
            <a:extLst>
              <a:ext uri="{FF2B5EF4-FFF2-40B4-BE49-F238E27FC236}">
                <a16:creationId xmlns:a16="http://schemas.microsoft.com/office/drawing/2014/main" id="{25302099-6D38-474F-8DF1-2003C88CC30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302D8E7F-7BF5-41EE-807D-CF52472213E8}"/>
              </a:ext>
            </a:extLst>
          </p:cNvPr>
          <p:cNvSpPr txBox="1"/>
          <p:nvPr/>
        </p:nvSpPr>
        <p:spPr>
          <a:xfrm>
            <a:off x="398584" y="4428170"/>
            <a:ext cx="5620380" cy="2308324"/>
          </a:xfrm>
          <a:prstGeom prst="rect">
            <a:avLst/>
          </a:prstGeom>
          <a:noFill/>
        </p:spPr>
        <p:txBody>
          <a:bodyPr wrap="square" rtlCol="0">
            <a:spAutoFit/>
          </a:bodyPr>
          <a:lstStyle/>
          <a:p>
            <a:r>
              <a:rPr lang="en-US" dirty="0"/>
              <a:t>This is the </a:t>
            </a:r>
            <a:r>
              <a:rPr lang="en-US" b="1" dirty="0"/>
              <a:t>Entity Relationship Diagram (ERD) of the Hotel Management System</a:t>
            </a:r>
            <a:r>
              <a:rPr lang="en-US" dirty="0"/>
              <a:t>. It consists of three tables: </a:t>
            </a:r>
            <a:r>
              <a:rPr lang="en-US" b="1" dirty="0"/>
              <a:t>tbl_users, rooms, and customer_checkin</a:t>
            </a:r>
            <a:r>
              <a:rPr lang="en-US" dirty="0"/>
              <a:t>. The </a:t>
            </a:r>
            <a:r>
              <a:rPr lang="en-US" b="1" dirty="0"/>
              <a:t>rooms</a:t>
            </a:r>
            <a:r>
              <a:rPr lang="en-US" dirty="0"/>
              <a:t> table stores room details, while the </a:t>
            </a:r>
            <a:r>
              <a:rPr lang="en-US" b="1" dirty="0"/>
              <a:t>customer_checkin</a:t>
            </a:r>
            <a:r>
              <a:rPr lang="en-US" dirty="0"/>
              <a:t> table records guest check-in information. These two tables are related through </a:t>
            </a:r>
            <a:r>
              <a:rPr lang="en-US" b="1" dirty="0"/>
              <a:t>room_number</a:t>
            </a:r>
            <a:r>
              <a:rPr lang="en-US" dirty="0"/>
              <a:t>, where one room can have multiple check-in records. The </a:t>
            </a:r>
            <a:r>
              <a:rPr lang="en-US" b="1" dirty="0"/>
              <a:t>tbl_users</a:t>
            </a:r>
            <a:r>
              <a:rPr lang="en-US" dirty="0"/>
              <a:t> table stores the system users who manage the system.</a:t>
            </a:r>
          </a:p>
        </p:txBody>
      </p:sp>
      <p:sp>
        <p:nvSpPr>
          <p:cNvPr id="3" name="AutoShape 2" descr="https://chatgpt.com/backend-api/estuary/content?id=file_00000000f23c72088568f2a985d0979f&amp;ts=492489&amp;p=fs&amp;cid=1&amp;sig=845dbc214050a74b5bacb5345448663249b3825881f5861bc61015e1af21afe2&amp;v=0">
            <a:extLst>
              <a:ext uri="{FF2B5EF4-FFF2-40B4-BE49-F238E27FC236}">
                <a16:creationId xmlns:a16="http://schemas.microsoft.com/office/drawing/2014/main" id="{21EA8A97-2B9D-4278-9C6E-47A84891DBA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7B2BD152-1054-4759-ABC1-CC5AFBF03474}"/>
              </a:ext>
            </a:extLst>
          </p:cNvPr>
          <p:cNvPicPr>
            <a:picLocks noChangeAspect="1"/>
          </p:cNvPicPr>
          <p:nvPr/>
        </p:nvPicPr>
        <p:blipFill>
          <a:blip r:embed="rId3"/>
          <a:stretch>
            <a:fillRect/>
          </a:stretch>
        </p:blipFill>
        <p:spPr>
          <a:xfrm>
            <a:off x="505406" y="816701"/>
            <a:ext cx="5513558" cy="3556272"/>
          </a:xfrm>
          <a:prstGeom prst="rect">
            <a:avLst/>
          </a:prstGeom>
        </p:spPr>
      </p:pic>
    </p:spTree>
    <p:extLst>
      <p:ext uri="{BB962C8B-B14F-4D97-AF65-F5344CB8AC3E}">
        <p14:creationId xmlns:p14="http://schemas.microsoft.com/office/powerpoint/2010/main" val="2740848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DBB9F-431F-4289-8568-AB16F3BEA0B6}"/>
              </a:ext>
            </a:extLst>
          </p:cNvPr>
          <p:cNvSpPr>
            <a:spLocks noGrp="1"/>
          </p:cNvSpPr>
          <p:nvPr>
            <p:ph type="title"/>
          </p:nvPr>
        </p:nvSpPr>
        <p:spPr>
          <a:xfrm>
            <a:off x="838200" y="254593"/>
            <a:ext cx="10515600" cy="589469"/>
          </a:xfrm>
        </p:spPr>
        <p:txBody>
          <a:bodyPr>
            <a:normAutofit fontScale="90000"/>
          </a:bodyPr>
          <a:lstStyle/>
          <a:p>
            <a:r>
              <a:rPr lang="en-US" dirty="0"/>
              <a:t>F</a:t>
            </a:r>
          </a:p>
        </p:txBody>
      </p:sp>
      <p:pic>
        <p:nvPicPr>
          <p:cNvPr id="6" name="Picture 5">
            <a:extLst>
              <a:ext uri="{FF2B5EF4-FFF2-40B4-BE49-F238E27FC236}">
                <a16:creationId xmlns:a16="http://schemas.microsoft.com/office/drawing/2014/main" id="{B3E01E57-F724-470C-86ED-7D487440C6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00" y="-13065"/>
            <a:ext cx="12333399" cy="6858000"/>
          </a:xfrm>
          <a:prstGeom prst="rect">
            <a:avLst/>
          </a:prstGeom>
        </p:spPr>
      </p:pic>
      <p:sp>
        <p:nvSpPr>
          <p:cNvPr id="11" name="TextBox 10">
            <a:extLst>
              <a:ext uri="{FF2B5EF4-FFF2-40B4-BE49-F238E27FC236}">
                <a16:creationId xmlns:a16="http://schemas.microsoft.com/office/drawing/2014/main" id="{9669FE57-8B94-478D-81C2-59C939134625}"/>
              </a:ext>
            </a:extLst>
          </p:cNvPr>
          <p:cNvSpPr txBox="1"/>
          <p:nvPr/>
        </p:nvSpPr>
        <p:spPr>
          <a:xfrm>
            <a:off x="2856157" y="13065"/>
            <a:ext cx="3868615" cy="830997"/>
          </a:xfrm>
          <a:prstGeom prst="rect">
            <a:avLst/>
          </a:prstGeom>
          <a:noFill/>
        </p:spPr>
        <p:txBody>
          <a:bodyPr wrap="square" rtlCol="0">
            <a:spAutoFit/>
          </a:bodyPr>
          <a:lstStyle/>
          <a:p>
            <a:r>
              <a:rPr lang="en-US" sz="4800" b="1" dirty="0">
                <a:latin typeface="Arial" panose="020B0604020202020204" pitchFamily="34" charset="0"/>
                <a:cs typeface="Arial" panose="020B0604020202020204" pitchFamily="34" charset="0"/>
              </a:rPr>
              <a:t>Flowchart </a:t>
            </a:r>
          </a:p>
        </p:txBody>
      </p:sp>
      <p:sp>
        <p:nvSpPr>
          <p:cNvPr id="15" name="TextBox 14">
            <a:extLst>
              <a:ext uri="{FF2B5EF4-FFF2-40B4-BE49-F238E27FC236}">
                <a16:creationId xmlns:a16="http://schemas.microsoft.com/office/drawing/2014/main" id="{443A3F15-83AB-44C5-967B-10A4330AED33}"/>
              </a:ext>
            </a:extLst>
          </p:cNvPr>
          <p:cNvSpPr txBox="1"/>
          <p:nvPr/>
        </p:nvSpPr>
        <p:spPr>
          <a:xfrm>
            <a:off x="3607358" y="4133668"/>
            <a:ext cx="1135464" cy="369332"/>
          </a:xfrm>
          <a:prstGeom prst="rect">
            <a:avLst/>
          </a:prstGeom>
          <a:noFill/>
        </p:spPr>
        <p:txBody>
          <a:bodyPr wrap="square" rtlCol="0">
            <a:spAutoFit/>
          </a:bodyPr>
          <a:lstStyle/>
          <a:p>
            <a:endParaRPr lang="en-US" dirty="0"/>
          </a:p>
        </p:txBody>
      </p:sp>
      <p:sp>
        <p:nvSpPr>
          <p:cNvPr id="4" name="AutoShape 4" descr="Generated image">
            <a:extLst>
              <a:ext uri="{FF2B5EF4-FFF2-40B4-BE49-F238E27FC236}">
                <a16:creationId xmlns:a16="http://schemas.microsoft.com/office/drawing/2014/main" id="{25302099-6D38-474F-8DF1-2003C88CC30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E1CC79CE-1640-423C-AA79-63F849AE78DA}"/>
              </a:ext>
            </a:extLst>
          </p:cNvPr>
          <p:cNvSpPr txBox="1"/>
          <p:nvPr/>
        </p:nvSpPr>
        <p:spPr>
          <a:xfrm>
            <a:off x="283778" y="3650039"/>
            <a:ext cx="6440994" cy="3139321"/>
          </a:xfrm>
          <a:prstGeom prst="rect">
            <a:avLst/>
          </a:prstGeom>
          <a:noFill/>
        </p:spPr>
        <p:txBody>
          <a:bodyPr wrap="square" rtlCol="0">
            <a:spAutoFit/>
          </a:bodyPr>
          <a:lstStyle/>
          <a:p>
            <a:r>
              <a:rPr lang="en-US" b="1" dirty="0"/>
              <a:t>This is the flowchart of the system.</a:t>
            </a:r>
            <a:r>
              <a:rPr lang="en-US" dirty="0"/>
              <a:t> The process starts at the </a:t>
            </a:r>
            <a:r>
              <a:rPr lang="en-US" b="1" dirty="0"/>
              <a:t>Landing Page</a:t>
            </a:r>
            <a:r>
              <a:rPr lang="en-US" dirty="0"/>
              <a:t>, where the user can register or log in. If the user registers, their account information is stored in the database before proceeding to the login page. After logging in, the system verifies the credentials and determines the account type. If the user is an </a:t>
            </a:r>
            <a:r>
              <a:rPr lang="en-US" b="1" dirty="0"/>
              <a:t>Admin</a:t>
            </a:r>
            <a:r>
              <a:rPr lang="en-US" dirty="0"/>
              <a:t>, the system opens the </a:t>
            </a:r>
            <a:r>
              <a:rPr lang="en-US" b="1" dirty="0"/>
              <a:t>Admin Dashboard</a:t>
            </a:r>
            <a:r>
              <a:rPr lang="en-US" dirty="0"/>
              <a:t> where the admin can manage users, rooms, and customer bills. If the user is a </a:t>
            </a:r>
            <a:r>
              <a:rPr lang="en-US" b="1" dirty="0"/>
              <a:t>User</a:t>
            </a:r>
            <a:r>
              <a:rPr lang="en-US" dirty="0"/>
              <a:t>, the system opens the </a:t>
            </a:r>
            <a:r>
              <a:rPr lang="en-US" b="1" dirty="0"/>
              <a:t>User Dashboard</a:t>
            </a:r>
            <a:r>
              <a:rPr lang="en-US" dirty="0"/>
              <a:t> where the user can update their profile, book rooms, and manage bookings. All actions interact with the database and the user can log out to end the session.</a:t>
            </a:r>
          </a:p>
        </p:txBody>
      </p:sp>
      <p:pic>
        <p:nvPicPr>
          <p:cNvPr id="3" name="Picture 2">
            <a:extLst>
              <a:ext uri="{FF2B5EF4-FFF2-40B4-BE49-F238E27FC236}">
                <a16:creationId xmlns:a16="http://schemas.microsoft.com/office/drawing/2014/main" id="{10BAD3C4-CF34-4ECF-A735-2BC21AEFC474}"/>
              </a:ext>
            </a:extLst>
          </p:cNvPr>
          <p:cNvPicPr>
            <a:picLocks noChangeAspect="1"/>
          </p:cNvPicPr>
          <p:nvPr/>
        </p:nvPicPr>
        <p:blipFill>
          <a:blip r:embed="rId3"/>
          <a:stretch>
            <a:fillRect/>
          </a:stretch>
        </p:blipFill>
        <p:spPr>
          <a:xfrm>
            <a:off x="283778" y="769604"/>
            <a:ext cx="7469926" cy="2880435"/>
          </a:xfrm>
          <a:prstGeom prst="rect">
            <a:avLst/>
          </a:prstGeom>
        </p:spPr>
      </p:pic>
    </p:spTree>
    <p:extLst>
      <p:ext uri="{BB962C8B-B14F-4D97-AF65-F5344CB8AC3E}">
        <p14:creationId xmlns:p14="http://schemas.microsoft.com/office/powerpoint/2010/main" val="134701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0C61103-3FC8-460D-A099-A9B2D29CA274}"/>
              </a:ext>
            </a:extLst>
          </p:cNvPr>
          <p:cNvPicPr>
            <a:picLocks noChangeAspect="1"/>
          </p:cNvPicPr>
          <p:nvPr/>
        </p:nvPicPr>
        <p:blipFill>
          <a:blip r:embed="rId2"/>
          <a:stretch>
            <a:fillRect/>
          </a:stretch>
        </p:blipFill>
        <p:spPr>
          <a:xfrm>
            <a:off x="1523603" y="2596824"/>
            <a:ext cx="9144793" cy="1664352"/>
          </a:xfrm>
          <a:prstGeom prst="rect">
            <a:avLst/>
          </a:prstGeom>
        </p:spPr>
      </p:pic>
      <p:pic>
        <p:nvPicPr>
          <p:cNvPr id="10" name="Picture 9">
            <a:extLst>
              <a:ext uri="{FF2B5EF4-FFF2-40B4-BE49-F238E27FC236}">
                <a16:creationId xmlns:a16="http://schemas.microsoft.com/office/drawing/2014/main" id="{B4181688-D895-4E72-B0BE-E3885C4A1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967" y="-22380"/>
            <a:ext cx="12174531" cy="6902759"/>
          </a:xfrm>
          <a:prstGeom prst="rect">
            <a:avLst/>
          </a:prstGeom>
        </p:spPr>
      </p:pic>
      <p:sp>
        <p:nvSpPr>
          <p:cNvPr id="11" name="Title 1">
            <a:extLst>
              <a:ext uri="{FF2B5EF4-FFF2-40B4-BE49-F238E27FC236}">
                <a16:creationId xmlns:a16="http://schemas.microsoft.com/office/drawing/2014/main" id="{1A14A2E6-D399-4AF2-B030-BB5D2B7C9774}"/>
              </a:ext>
            </a:extLst>
          </p:cNvPr>
          <p:cNvSpPr>
            <a:spLocks noGrp="1"/>
          </p:cNvSpPr>
          <p:nvPr>
            <p:ph type="ctrTitle"/>
          </p:nvPr>
        </p:nvSpPr>
        <p:spPr>
          <a:xfrm>
            <a:off x="0" y="2321169"/>
            <a:ext cx="6885749" cy="1497433"/>
          </a:xfrm>
        </p:spPr>
        <p:txBody>
          <a:bodyPr>
            <a:noAutofit/>
          </a:bodyPr>
          <a:lstStyle/>
          <a:p>
            <a:r>
              <a:rPr lang="en-US" sz="4800" b="1" dirty="0">
                <a:latin typeface="Arial" panose="020B0604020202020204" pitchFamily="34" charset="0"/>
                <a:cs typeface="Arial" panose="020B0604020202020204" pitchFamily="34" charset="0"/>
              </a:rPr>
              <a:t>LIVE APPLICATION DEMO</a:t>
            </a:r>
          </a:p>
        </p:txBody>
      </p:sp>
    </p:spTree>
    <p:extLst>
      <p:ext uri="{BB962C8B-B14F-4D97-AF65-F5344CB8AC3E}">
        <p14:creationId xmlns:p14="http://schemas.microsoft.com/office/powerpoint/2010/main" val="169612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0C61103-3FC8-460D-A099-A9B2D29CA274}"/>
              </a:ext>
            </a:extLst>
          </p:cNvPr>
          <p:cNvPicPr>
            <a:picLocks noChangeAspect="1"/>
          </p:cNvPicPr>
          <p:nvPr/>
        </p:nvPicPr>
        <p:blipFill>
          <a:blip r:embed="rId2"/>
          <a:stretch>
            <a:fillRect/>
          </a:stretch>
        </p:blipFill>
        <p:spPr>
          <a:xfrm>
            <a:off x="1523603" y="2596824"/>
            <a:ext cx="9144793" cy="1664352"/>
          </a:xfrm>
          <a:prstGeom prst="rect">
            <a:avLst/>
          </a:prstGeom>
        </p:spPr>
      </p:pic>
      <p:pic>
        <p:nvPicPr>
          <p:cNvPr id="10" name="Picture 9">
            <a:extLst>
              <a:ext uri="{FF2B5EF4-FFF2-40B4-BE49-F238E27FC236}">
                <a16:creationId xmlns:a16="http://schemas.microsoft.com/office/drawing/2014/main" id="{B4181688-D895-4E72-B0BE-E3885C4A1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35" y="0"/>
            <a:ext cx="12174531" cy="6902759"/>
          </a:xfrm>
          <a:prstGeom prst="rect">
            <a:avLst/>
          </a:prstGeom>
        </p:spPr>
      </p:pic>
      <p:sp>
        <p:nvSpPr>
          <p:cNvPr id="11" name="Title 1">
            <a:extLst>
              <a:ext uri="{FF2B5EF4-FFF2-40B4-BE49-F238E27FC236}">
                <a16:creationId xmlns:a16="http://schemas.microsoft.com/office/drawing/2014/main" id="{1A14A2E6-D399-4AF2-B030-BB5D2B7C9774}"/>
              </a:ext>
            </a:extLst>
          </p:cNvPr>
          <p:cNvSpPr>
            <a:spLocks noGrp="1"/>
          </p:cNvSpPr>
          <p:nvPr>
            <p:ph type="ctrTitle"/>
          </p:nvPr>
        </p:nvSpPr>
        <p:spPr>
          <a:xfrm>
            <a:off x="107904" y="263540"/>
            <a:ext cx="6885749" cy="1497433"/>
          </a:xfrm>
        </p:spPr>
        <p:txBody>
          <a:bodyPr>
            <a:noAutofit/>
          </a:bodyPr>
          <a:lstStyle/>
          <a:p>
            <a:r>
              <a:rPr lang="en-US" sz="6600" b="1" dirty="0">
                <a:latin typeface="Arial" panose="020B0604020202020204" pitchFamily="34" charset="0"/>
                <a:cs typeface="Arial" panose="020B0604020202020204" pitchFamily="34" charset="0"/>
              </a:rPr>
              <a:t>CONCLUSION</a:t>
            </a:r>
          </a:p>
        </p:txBody>
      </p:sp>
      <p:sp>
        <p:nvSpPr>
          <p:cNvPr id="2" name="TextBox 1">
            <a:extLst>
              <a:ext uri="{FF2B5EF4-FFF2-40B4-BE49-F238E27FC236}">
                <a16:creationId xmlns:a16="http://schemas.microsoft.com/office/drawing/2014/main" id="{AF52CBD5-5839-47A6-B15A-E2980B63C0C2}"/>
              </a:ext>
            </a:extLst>
          </p:cNvPr>
          <p:cNvSpPr txBox="1"/>
          <p:nvPr/>
        </p:nvSpPr>
        <p:spPr>
          <a:xfrm>
            <a:off x="482320" y="2305868"/>
            <a:ext cx="6189785" cy="2954655"/>
          </a:xfrm>
          <a:prstGeom prst="rect">
            <a:avLst/>
          </a:prstGeom>
          <a:noFill/>
        </p:spPr>
        <p:txBody>
          <a:bodyPr wrap="square" rtlCol="0">
            <a:spAutoFit/>
          </a:bodyPr>
          <a:lstStyle/>
          <a:p>
            <a:r>
              <a:rPr lang="en-US" sz="2800" dirty="0"/>
              <a:t>The Hotel Management System provides an efficient solution for managing hotel operations. It helps improve data organization, reduces manual errors, and allows faster processing of guest and room information.</a:t>
            </a:r>
          </a:p>
          <a:p>
            <a:endParaRPr lang="en-US" dirty="0"/>
          </a:p>
        </p:txBody>
      </p:sp>
    </p:spTree>
    <p:extLst>
      <p:ext uri="{BB962C8B-B14F-4D97-AF65-F5344CB8AC3E}">
        <p14:creationId xmlns:p14="http://schemas.microsoft.com/office/powerpoint/2010/main" val="2954347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415</Words>
  <Application>Microsoft Office PowerPoint</Application>
  <PresentationFormat>Widescreen</PresentationFormat>
  <Paragraphs>29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INTRODUCTION &amp; RATIONALE</vt:lpstr>
      <vt:lpstr>PURPOSE &amp; BENEFICIARIES</vt:lpstr>
      <vt:lpstr>PowerPoint Presentation</vt:lpstr>
      <vt:lpstr>PowerPoint Presentation</vt:lpstr>
      <vt:lpstr>F</vt:lpstr>
      <vt:lpstr>LIVE APPLICATION DEMO</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User</dc:creator>
  <cp:lastModifiedBy>User</cp:lastModifiedBy>
  <cp:revision>18</cp:revision>
  <dcterms:created xsi:type="dcterms:W3CDTF">2025-11-19T12:32:40Z</dcterms:created>
  <dcterms:modified xsi:type="dcterms:W3CDTF">2026-03-08T10:19:36Z</dcterms:modified>
</cp:coreProperties>
</file>